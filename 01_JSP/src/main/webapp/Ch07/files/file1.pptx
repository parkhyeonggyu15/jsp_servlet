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나눔고딕" pitchFamily="2" charset="-127"/>
      <p:regular r:id="rId12"/>
      <p:bold r:id="rId13"/>
    </p:embeddedFont>
    <p:embeddedFont>
      <p:font typeface="맑은 고딕" panose="020B0503020000020004" pitchFamily="50" charset="-127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02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14404" y="105340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보호종료 아동 및 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514404" y="1553096"/>
            <a:ext cx="3544119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 준비 청년</a:t>
            </a:r>
            <a:endParaRPr lang="en-US" sz="2750" dirty="0"/>
          </a:p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 지원 매뉴얼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65167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 종료 이후의 자립을 위한 핵심 제도, 실제 사례, 그리고 기관의 실천 방안을 담았습니다.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3269531"/>
            <a:ext cx="766242" cy="266402"/>
          </a:xfrm>
          <a:prstGeom prst="roundRect">
            <a:avLst>
              <a:gd name="adj" fmla="val 2145"/>
            </a:avLst>
          </a:prstGeom>
          <a:solidFill>
            <a:srgbClr val="E4E6E7"/>
          </a:solidFill>
          <a:ln/>
        </p:spPr>
      </p:sp>
      <p:sp>
        <p:nvSpPr>
          <p:cNvPr id="8" name="Text 5"/>
          <p:cNvSpPr/>
          <p:nvPr/>
        </p:nvSpPr>
        <p:spPr>
          <a:xfrm>
            <a:off x="4010174" y="3312021"/>
            <a:ext cx="5961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2025년 기준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62202" y="3264768"/>
            <a:ext cx="861938" cy="275927"/>
          </a:xfrm>
          <a:prstGeom prst="roundRect">
            <a:avLst>
              <a:gd name="adj" fmla="val 2071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52020" y="3312021"/>
            <a:ext cx="68230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기관용 매뉴얼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3700165"/>
            <a:ext cx="674638" cy="389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9904" y="88664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취업 연계 사례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314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보호종료 청년들의 성공적인 사회 안착을 위한 실질적인 취업 연계 지원 방안을 소개합니다.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99431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19994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직업 교육 및 훈련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2305943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산업 현장의 수요를 반영한 맞춤형 직업 교육과 실질적인 기술 훈련을 제공하여, 청년들이 경쟁력 있는 인재로 성장하도록 돕습니다.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553" y="1999431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2092" y="19994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1:1 취업 컨설팅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92092" y="2305943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개인의 강점과 적성을 분석하고, 이력서 및 자기소개서 작성, 면접 스킬 향상 등 전반적인 취업 준비 과정을 전문적으로 지원합니다.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69903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658" y="32699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기업 매칭 및 인턴십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27658" y="3576414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협력 기업과의 네트워크를 활용하여 청년들에게 적합한 일자리를 연계하고, 현장 경험을 쌓을 수 있는 인턴십 기회를 제공합니다.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553" y="3269903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92092" y="32699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사후 관리 및 정착 지원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92092" y="3576414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취업 후에도 직장 적응을 돕기 위한 멘토링, 심리 상담 등 지속적인 사후 관리를 통해 안정적인 사회 정착을 지원합니다.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2882" y="933822"/>
            <a:ext cx="54181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 준비 청년, 궁금한 점이 있다면?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0327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자립 준비 청년들이 가장 자주 묻는 질문과 답변을 모았습니다. 기관 담당자분들은 청년들을 지원하는 데 활용해 보세요.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59211"/>
            <a:ext cx="2622724" cy="1950393"/>
          </a:xfrm>
          <a:prstGeom prst="roundRect">
            <a:avLst>
              <a:gd name="adj" fmla="val 468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6119" y="2240161"/>
            <a:ext cx="2622724" cy="7620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6" name="Shape 4"/>
          <p:cNvSpPr/>
          <p:nvPr/>
        </p:nvSpPr>
        <p:spPr>
          <a:xfrm>
            <a:off x="1594805" y="2046610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1722351" y="215294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927" y="2613571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자립정착금은 어떻게 신청하나요?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927" y="3141538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 종료 후 5년 이내에 거주지 관할 시·군·구에 신청합니다. 보호 종료 확인서와 통장 사본 등을 제출하면 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2259211"/>
            <a:ext cx="2622724" cy="1950393"/>
          </a:xfrm>
          <a:prstGeom prst="roundRect">
            <a:avLst>
              <a:gd name="adj" fmla="val 468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0601" y="2240161"/>
            <a:ext cx="2622724" cy="7620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9287" y="2046610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4486833" y="215294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1410" y="2613571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자립생활관 입소 조건은 무엇인가요?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21410" y="3141538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주거 지원이 필요한 자립 준비 청년이 대상입니다. 시설별로 나이, 학업·취업 계획 등 기준이 다르므로 직접 문의해 보세요.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083" y="2259211"/>
            <a:ext cx="2622724" cy="1950393"/>
          </a:xfrm>
          <a:prstGeom prst="roundRect">
            <a:avLst>
              <a:gd name="adj" fmla="val 468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083" y="2240161"/>
            <a:ext cx="2622724" cy="76200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23770" y="2046610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51617"/>
          </a:solidFill>
          <a:ln/>
        </p:spPr>
      </p:sp>
      <p:sp>
        <p:nvSpPr>
          <p:cNvPr id="19" name="Text 17"/>
          <p:cNvSpPr/>
          <p:nvPr/>
        </p:nvSpPr>
        <p:spPr>
          <a:xfrm>
            <a:off x="7251316" y="215294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5892" y="2613571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자립수당은 얼마나 오래 받을 수 있나요?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85892" y="3141538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 종료 후 만 18세부터 만 24세까지, 최대 5년간 매월 받을 수 있습니다. 소득·재산 기준을 충족해야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01" y="366043"/>
            <a:ext cx="3308524" cy="4411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8384"/>
            <a:ext cx="3039442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 준비, 왜 지금인가?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496119" y="938510"/>
            <a:ext cx="4722763" cy="683196"/>
          </a:xfrm>
          <a:prstGeom prst="roundRect">
            <a:avLst>
              <a:gd name="adj" fmla="val 837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357" y="1063749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🏠</a:t>
            </a: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 주거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1357" y="1318171"/>
            <a:ext cx="44722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 종료 후 안정적인 거처 마련이 가장 시급한 과제입니다.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1724099"/>
            <a:ext cx="4722763" cy="683196"/>
          </a:xfrm>
          <a:prstGeom prst="roundRect">
            <a:avLst>
              <a:gd name="adj" fmla="val 837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357" y="1849338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💰</a:t>
            </a: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 소득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357" y="2103760"/>
            <a:ext cx="44722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경제적 기반 없이 생계를 시작해야 하는 현실적 어려움.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2509689"/>
            <a:ext cx="4722763" cy="683196"/>
          </a:xfrm>
          <a:prstGeom prst="roundRect">
            <a:avLst>
              <a:gd name="adj" fmla="val 837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357" y="2634928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🎓</a:t>
            </a: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 진로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1357" y="2889349"/>
            <a:ext cx="44722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학업, 취업, 창업 등 미래 설계에 대한 정보와 지원이 부족합니다.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3295278"/>
            <a:ext cx="4722763" cy="683196"/>
          </a:xfrm>
          <a:prstGeom prst="roundRect">
            <a:avLst>
              <a:gd name="adj" fmla="val 837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357" y="3420517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🤝</a:t>
            </a: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 관계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1357" y="3674938"/>
            <a:ext cx="44722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사회적 네트워크 부재로 고립되기 쉬운 환경에 놓입니다.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6119" y="4093666"/>
            <a:ext cx="4722763" cy="641375"/>
          </a:xfrm>
          <a:prstGeom prst="roundRect">
            <a:avLst>
              <a:gd name="adj" fmla="val 891"/>
            </a:avLst>
          </a:prstGeom>
          <a:solidFill>
            <a:srgbClr val="D7D9DA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95" y="4267349"/>
            <a:ext cx="150614" cy="1204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87685" y="4226123"/>
            <a:ext cx="42107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 종료는 만 18세에 갑작스럽게 찾아옵니다. </a:t>
            </a:r>
            <a:r>
              <a:rPr lang="en-US" sz="9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지금부터의 준비가 자립의 질을 결정합니다.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6473"/>
            <a:ext cx="28353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핵심 지원 제도 총정리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012254"/>
            <a:ext cx="613172" cy="198611"/>
          </a:xfrm>
          <a:prstGeom prst="roundRect">
            <a:avLst>
              <a:gd name="adj" fmla="val 2877"/>
            </a:avLst>
          </a:prstGeom>
          <a:solidFill>
            <a:srgbClr val="E4E6E7"/>
          </a:solidFill>
          <a:ln/>
        </p:spPr>
      </p:sp>
      <p:sp>
        <p:nvSpPr>
          <p:cNvPr id="4" name="Text 2"/>
          <p:cNvSpPr/>
          <p:nvPr/>
        </p:nvSpPr>
        <p:spPr>
          <a:xfrm>
            <a:off x="564133" y="1046262"/>
            <a:ext cx="477143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2025년 기준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14909"/>
            <a:ext cx="3150022" cy="315002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414909"/>
            <a:ext cx="3150022" cy="3150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5098" y="2511400"/>
            <a:ext cx="143105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이 제도를 꼭 활용하세요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715098" y="2779291"/>
            <a:ext cx="3937546" cy="74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자립지원 계획</a:t>
            </a: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: 만 17~18세 대상 1:1 맞춤 계획 수립 및 역량 강화 교육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자립정착금</a:t>
            </a: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: 최대 </a:t>
            </a:r>
            <a:r>
              <a:rPr lang="en-US" sz="850" b="1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1,500만 원</a:t>
            </a: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 지원으로 초기 생활비 부담 완화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자립생활관</a:t>
            </a: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: 안전한 주거 환경과 자립 역량 강화 프로그램 제공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자립수당</a:t>
            </a: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: 월 </a:t>
            </a:r>
            <a:r>
              <a:rPr lang="en-US" sz="850" b="1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35만 원</a:t>
            </a:r>
            <a:r>
              <a:rPr lang="en-US" sz="8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, 최대 36개월 + 매입임대주택·진로 컨설팅 연계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9334"/>
            <a:ext cx="4085332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중간퇴소 자립준비청년 지원 강화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88379" y="958453"/>
            <a:ext cx="872356" cy="220042"/>
          </a:xfrm>
          <a:prstGeom prst="roundRect">
            <a:avLst>
              <a:gd name="adj" fmla="val 2597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4282" y="998786"/>
            <a:ext cx="720551" cy="13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2024년 연구 기반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88379" y="2225055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무엇이 달라졌나요?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8379" y="2509614"/>
            <a:ext cx="5207422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2024년 2월 </a:t>
            </a:r>
            <a:r>
              <a:rPr lang="en-US" sz="900" b="1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아동복지법 개정</a:t>
            </a: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으로 만 18세 이전 중간퇴소 아동·청소년도 지원 대상에 포함되었습니다. 이제 더 많은 청년이 사각지대 없이 지원을 받을 수 있게 되었습니다.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886" y="1401738"/>
            <a:ext cx="2269852" cy="22698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8379" y="3894832"/>
            <a:ext cx="2656284" cy="859259"/>
          </a:xfrm>
          <a:prstGeom prst="roundRect">
            <a:avLst>
              <a:gd name="adj" fmla="val 7981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4092" y="3894832"/>
            <a:ext cx="57150" cy="859259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664146" y="4027736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통합 정보공유 체계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4146" y="4272632"/>
            <a:ext cx="234761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기관 간 정보 공유로 중복·누락 없는 지원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3858" y="3894832"/>
            <a:ext cx="2656284" cy="859259"/>
          </a:xfrm>
          <a:prstGeom prst="roundRect">
            <a:avLst>
              <a:gd name="adj" fmla="val 7981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9570" y="3894832"/>
            <a:ext cx="57150" cy="859259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3419624" y="4027736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위기 아동 보호 단일화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419624" y="4272632"/>
            <a:ext cx="234761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위기 상황 대응 절차 간소화 및 신속 조치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99336" y="3894832"/>
            <a:ext cx="2656284" cy="859259"/>
          </a:xfrm>
          <a:prstGeom prst="roundRect">
            <a:avLst>
              <a:gd name="adj" fmla="val 7981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85049" y="3894832"/>
            <a:ext cx="57150" cy="859259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8" name="Text 15"/>
          <p:cNvSpPr/>
          <p:nvPr/>
        </p:nvSpPr>
        <p:spPr>
          <a:xfrm>
            <a:off x="6175102" y="4027736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특별법 제정 제안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175102" y="4272632"/>
            <a:ext cx="2347615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한국보건사회연구원: 단일 부처 통합 지원체계 구축 권고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031"/>
            <a:ext cx="4654897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실제 사례: G씨의 성공적인 자립 여정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57349"/>
            <a:ext cx="2980581" cy="29805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69856" y="1096491"/>
            <a:ext cx="14288" cy="2902223"/>
          </a:xfrm>
          <a:prstGeom prst="roundRect">
            <a:avLst>
              <a:gd name="adj" fmla="val 3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994239" y="1224855"/>
            <a:ext cx="361504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6" name="Shape 3"/>
          <p:cNvSpPr/>
          <p:nvPr/>
        </p:nvSpPr>
        <p:spPr>
          <a:xfrm>
            <a:off x="6341455" y="1096491"/>
            <a:ext cx="271090" cy="271090"/>
          </a:xfrm>
          <a:prstGeom prst="roundRect">
            <a:avLst>
              <a:gd name="adj" fmla="val 210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86587" y="1119039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68329" y="1137865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만 17세 — 출발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301430" y="1428527"/>
            <a:ext cx="157311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자립계획 수립 및 자립생활관 입소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98258" y="1911623"/>
            <a:ext cx="361504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1" name="Shape 8"/>
          <p:cNvSpPr/>
          <p:nvPr/>
        </p:nvSpPr>
        <p:spPr>
          <a:xfrm>
            <a:off x="6341455" y="1783259"/>
            <a:ext cx="271090" cy="271090"/>
          </a:xfrm>
          <a:prstGeom prst="roundRect">
            <a:avLst>
              <a:gd name="adj" fmla="val 210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86587" y="1805806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79456" y="1824633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병행 도전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079456" y="2115294"/>
            <a:ext cx="157311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고졸 검정고시 + 직업훈련 동시에 진행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94239" y="2516684"/>
            <a:ext cx="361504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1455" y="2388319"/>
            <a:ext cx="271090" cy="271090"/>
          </a:xfrm>
          <a:prstGeom prst="roundRect">
            <a:avLst>
              <a:gd name="adj" fmla="val 210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86587" y="2410867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68329" y="242969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주거 확보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301430" y="2720355"/>
            <a:ext cx="157311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자립수당 및 정착금으로 임대주택 계약 성공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98258" y="3121744"/>
            <a:ext cx="361504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21" name="Shape 18"/>
          <p:cNvSpPr/>
          <p:nvPr/>
        </p:nvSpPr>
        <p:spPr>
          <a:xfrm>
            <a:off x="6341455" y="2993380"/>
            <a:ext cx="271090" cy="271090"/>
          </a:xfrm>
          <a:prstGeom prst="roundRect">
            <a:avLst>
              <a:gd name="adj" fmla="val 210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86587" y="3015928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79456" y="303475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현재 — 성장 중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079456" y="3325416"/>
            <a:ext cx="157311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지역 청년센터 연계 일자리 프로그램 참여 중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6119" y="4268316"/>
            <a:ext cx="8151763" cy="463079"/>
          </a:xfrm>
          <a:prstGeom prst="roundRect">
            <a:avLst>
              <a:gd name="adj" fmla="val 1234"/>
            </a:avLst>
          </a:prstGeom>
          <a:solidFill>
            <a:srgbClr val="B6FCB8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95" y="4441999"/>
            <a:ext cx="150614" cy="12047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87685" y="4400773"/>
            <a:ext cx="763972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핵심 교훈:</a:t>
            </a:r>
            <a:r>
              <a:rPr lang="en-US" sz="9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 체계적인 계획 수립과 제도 활용이 자립 성공의 가장 중요한 열쇠입니다.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902"/>
            <a:ext cx="4942061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기관을 위한 실천 방안 및 향후 과제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213619"/>
            <a:ext cx="269304" cy="269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42839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사전 준비 필수화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96119" y="1981126"/>
            <a:ext cx="391157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 종료 전 상담과 자립 계획 수립을 반드시 진행하세요.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47032"/>
            <a:ext cx="269304" cy="269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2876252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정보 접근성 강화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96119" y="3214539"/>
            <a:ext cx="391157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복지로, 아동자립포털 등 주요 플랫폼 활용법을 적극 안내하세요.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1069" y="1213619"/>
            <a:ext cx="269304" cy="2693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41069" y="1642839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지역 기관 협력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741069" y="1981126"/>
            <a:ext cx="3911575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지역 자립지원전담기관과 협력 체계를 구축하고 사후 관리까지 연계하세요.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1069" y="2657103"/>
            <a:ext cx="269304" cy="2693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41069" y="3086323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지속적 제도 개선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741069" y="3424610"/>
            <a:ext cx="3911575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지원 사각지대 해소와 통합 지원 체계 마련을 위한 개선을 주도하세요.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96119" y="4132585"/>
            <a:ext cx="8151763" cy="554013"/>
          </a:xfrm>
          <a:prstGeom prst="roundRect">
            <a:avLst>
              <a:gd name="adj" fmla="val 1032"/>
            </a:avLst>
          </a:prstGeom>
          <a:solidFill>
            <a:srgbClr val="B6D6F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734" y="4330675"/>
            <a:ext cx="168325" cy="1346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3673" y="4294138"/>
            <a:ext cx="757959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📌 </a:t>
            </a:r>
            <a:r>
              <a:rPr lang="en-US" sz="105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핵심 플랫폼:</a:t>
            </a:r>
            <a:r>
              <a:rPr lang="en-US" sz="105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 복지로 (bokjiro.go.kr) · 아동자립포털 (child.or.kr) — 청년과 함께 확인하세요.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245"/>
            <a:ext cx="3409950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자립 준비 청년 실용 가이드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40371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보호 종료 후 자립을 위한 단계별 실행 계획과 핵심 체크리스트입니다.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38622"/>
            <a:ext cx="813346" cy="214759"/>
          </a:xfrm>
          <a:prstGeom prst="roundRect">
            <a:avLst>
              <a:gd name="adj" fmla="val 2661"/>
            </a:avLst>
          </a:prstGeom>
          <a:solidFill>
            <a:srgbClr val="E4E6E7"/>
          </a:solidFill>
          <a:ln/>
        </p:spPr>
      </p:sp>
      <p:sp>
        <p:nvSpPr>
          <p:cNvPr id="5" name="Text 3"/>
          <p:cNvSpPr/>
          <p:nvPr/>
        </p:nvSpPr>
        <p:spPr>
          <a:xfrm>
            <a:off x="568375" y="1274713"/>
            <a:ext cx="668834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월별 체크리스트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369665" y="1233860"/>
            <a:ext cx="556915" cy="224284"/>
          </a:xfrm>
          <a:prstGeom prst="roundRect">
            <a:avLst>
              <a:gd name="adj" fmla="val 2548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6684" y="1274713"/>
            <a:ext cx="402878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실행 계획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64856" y="1573337"/>
            <a:ext cx="14288" cy="2581573"/>
          </a:xfrm>
          <a:prstGeom prst="roundRect">
            <a:avLst>
              <a:gd name="adj" fmla="val 3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089239" y="1701701"/>
            <a:ext cx="361504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0" name="Shape 8"/>
          <p:cNvSpPr/>
          <p:nvPr/>
        </p:nvSpPr>
        <p:spPr>
          <a:xfrm>
            <a:off x="4436455" y="1573337"/>
            <a:ext cx="271090" cy="271090"/>
          </a:xfrm>
          <a:prstGeom prst="roundRect">
            <a:avLst>
              <a:gd name="adj" fmla="val 210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1587" y="1595884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3329" y="1614711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만 17세 — 계획 수립기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119" y="1864370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주거: 유형 알아보기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119" y="2104058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소득: 금융 교육·저축 시작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6119" y="2343745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진로: 관심 직업 탐색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6119" y="2583433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관계: 멘토링 신청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93258" y="2388468"/>
            <a:ext cx="361504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6455" y="2260104"/>
            <a:ext cx="271090" cy="271090"/>
          </a:xfrm>
          <a:prstGeom prst="roundRect">
            <a:avLst>
              <a:gd name="adj" fmla="val 210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1587" y="2282651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74456" y="2301478"/>
            <a:ext cx="1649313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만 18세 — 실천 및 신청기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74456" y="2551137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주거: 지원 신청·정착금 계획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4456" y="2790825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소득: 이력서·면접 준비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74456" y="3030513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진로: 상담·자격증 수강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74456" y="3270200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관계: 전담기관과 정기 소통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89239" y="3094881"/>
            <a:ext cx="361504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6455" y="2966517"/>
            <a:ext cx="271090" cy="271090"/>
          </a:xfrm>
          <a:prstGeom prst="roundRect">
            <a:avLst>
              <a:gd name="adj" fmla="val 2108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1587" y="2989064"/>
            <a:ext cx="18075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84276" y="3007891"/>
            <a:ext cx="1785268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나눔고딕" panose="020B0503020000020004" pitchFamily="2" charset="-127"/>
                <a:ea typeface="나눔고딕" panose="020B0503020000020004" pitchFamily="2" charset="-127"/>
                <a:cs typeface="Montserrat Black" pitchFamily="34" charset="-120"/>
              </a:rPr>
              <a:t>만 19세 — 자립 생활 안정기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6119" y="3257550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주거: 계약·공과금 관리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6119" y="3497238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소득: 예산·신용 관리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6119" y="3736925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진로: 취업·학업 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119" y="3976613"/>
            <a:ext cx="347342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관계: 커뮤니티·상담 활용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6119" y="4270102"/>
            <a:ext cx="8151763" cy="463079"/>
          </a:xfrm>
          <a:prstGeom prst="roundRect">
            <a:avLst>
              <a:gd name="adj" fmla="val 1234"/>
            </a:avLst>
          </a:prstGeom>
          <a:solidFill>
            <a:srgbClr val="D7D9DA"/>
          </a:solidFill>
          <a:ln/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5" y="4443785"/>
            <a:ext cx="150614" cy="12047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87685" y="4402559"/>
            <a:ext cx="763972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핵심:</a:t>
            </a:r>
            <a:r>
              <a:rPr lang="en-US" sz="9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cs typeface="Inconsolata" pitchFamily="34" charset="-120"/>
              </a:rPr>
              <a:t> 단계별로 필요한 도움을 적극적으로 요청하며, 자신에게 맞는 계획을 꾸준히 조정하세요.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746</Words>
  <Application>Microsoft Office PowerPoint</Application>
  <PresentationFormat>화면 슬라이드 쇼(16:9)</PresentationFormat>
  <Paragraphs>110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Calibri</vt:lpstr>
      <vt:lpstr>나눔고딕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lastModifiedBy>FullName</cp:lastModifiedBy>
  <cp:revision>2</cp:revision>
  <dcterms:created xsi:type="dcterms:W3CDTF">2026-05-13T10:43:11Z</dcterms:created>
  <dcterms:modified xsi:type="dcterms:W3CDTF">2026-05-13T10:46:07Z</dcterms:modified>
</cp:coreProperties>
</file>